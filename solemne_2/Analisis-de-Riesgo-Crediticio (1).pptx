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yne"/>
      <p:regular r:id="rId17"/>
    </p:embeddedFont>
    <p:embeddedFont>
      <p:font typeface="Syne"/>
      <p:regular r:id="rId18"/>
    </p:embeddedFont>
    <p:embeddedFont>
      <p:font typeface="Overpass Light"/>
      <p:regular r:id="rId19"/>
    </p:embeddedFont>
    <p:embeddedFont>
      <p:font typeface="Overpass Light"/>
      <p:regular r:id="rId20"/>
    </p:embeddedFont>
    <p:embeddedFont>
      <p:font typeface="Overpass Light"/>
      <p:regular r:id="rId21"/>
    </p:embeddedFont>
    <p:embeddedFont>
      <p:font typeface="Overpass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9057"/>
            <a:ext cx="738616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Análisis de Riesgo Crediticio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1920716"/>
            <a:ext cx="7556421" cy="415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Aplicación del Método CRISP-DM para la Optimización de Préstamos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93790" y="6366986"/>
            <a:ext cx="75564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Predicción de la Solvencia de Clientes mediante Modelos Predictivos Avanzados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3790" y="6892171"/>
            <a:ext cx="75564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23 de Septiembre de 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25334"/>
            <a:ext cx="8062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Comprensión del Negocio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74275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4908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Objetivo Principal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399127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Desarrollar un modelo predictivo robusto que clasifique solicitantes como de "buen" o "mal" riesgo, minimizando pérdidas financieras.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674275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4908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Contexto Crítico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399127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La clasificación errónea de un cliente de "mal" riesgo como "bueno" 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5 veces más costosa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que el error inverso.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674275"/>
            <a:ext cx="4196358" cy="2765227"/>
          </a:xfrm>
          <a:prstGeom prst="roundRect">
            <a:avLst>
              <a:gd name="adj" fmla="val 3445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4908709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Herramienta Estratégica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753457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Mejora objetiva en la toma de decisiones para aprobación de créditos, reduciendo el riesgo de exposición financiera.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81775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Comprensión de los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4418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Fuente: German Credit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4951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1.000 registros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de solicitudes históricas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9170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21 atributos: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20 predictivas + 1 objetivo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3390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Calidad excepcional: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Sin valores nulos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7610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8 variables numéricas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(duración, monto, edad)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1830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13 variables categóricas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(estado cuenta, propósito)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36356"/>
            <a:ext cx="7604284" cy="1326713"/>
          </a:xfrm>
          <a:prstGeom prst="roundRect">
            <a:avLst>
              <a:gd name="adj" fmla="val 7181"/>
            </a:avLst>
          </a:prstGeom>
          <a:solidFill>
            <a:srgbClr val="CCE5D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457587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0906" y="5419844"/>
            <a:ext cx="6640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Desbalance detectado: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70% créditos buenos vs 30% malos. Requiere estrategia específica de modelado.</a:t>
            </a:r>
            <a:endParaRPr lang="en-US" sz="1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68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Preparación de Datos - Transformaciones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424589"/>
            <a:ext cx="226814" cy="28348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3790" y="2779633"/>
            <a:ext cx="3664744" cy="3048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6" name="Text 2"/>
          <p:cNvSpPr/>
          <p:nvPr/>
        </p:nvSpPr>
        <p:spPr>
          <a:xfrm>
            <a:off x="793790" y="2953941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Codificación de Variables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3798689"/>
            <a:ext cx="36647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One-Hot Encoding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aplicado a 13 variables categóricas, expandiendo características para capturar toda la información cualitativa.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348" y="2424589"/>
            <a:ext cx="226814" cy="2834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85348" y="2779633"/>
            <a:ext cx="3664863" cy="3048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0" name="Text 5"/>
          <p:cNvSpPr/>
          <p:nvPr/>
        </p:nvSpPr>
        <p:spPr>
          <a:xfrm>
            <a:off x="4685348" y="2953941"/>
            <a:ext cx="3084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Escalado Numérico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685348" y="3444359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StandardScaler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para las 8 variables numéricas, asegurando media=0 y desviación=1 para equilibrar influencia.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647134"/>
            <a:ext cx="226814" cy="28348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93790" y="6002179"/>
            <a:ext cx="7556421" cy="3048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4" name="Text 8"/>
          <p:cNvSpPr/>
          <p:nvPr/>
        </p:nvSpPr>
        <p:spPr>
          <a:xfrm>
            <a:off x="793790" y="6176486"/>
            <a:ext cx="2934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Control de Calidad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66669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Verificación de transformaciones y validación de rangos para garantizar integridad de datos procesados.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5092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División y Validación de Datos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80190" y="2419112"/>
            <a:ext cx="365057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70%</a:t>
            </a:r>
            <a:endParaRPr lang="en-US" sz="5300" dirty="0"/>
          </a:p>
        </p:txBody>
      </p:sp>
      <p:sp>
        <p:nvSpPr>
          <p:cNvPr id="5" name="Text 2"/>
          <p:cNvSpPr/>
          <p:nvPr/>
        </p:nvSpPr>
        <p:spPr>
          <a:xfrm>
            <a:off x="6829544" y="334779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Entrenamiento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280190" y="3789045"/>
            <a:ext cx="3650575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700 registros para construcción del modelo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85916" y="2419112"/>
            <a:ext cx="3650694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30%</a:t>
            </a:r>
            <a:endParaRPr lang="en-US" sz="5300" dirty="0"/>
          </a:p>
        </p:txBody>
      </p:sp>
      <p:sp>
        <p:nvSpPr>
          <p:cNvPr id="8" name="Text 5"/>
          <p:cNvSpPr/>
          <p:nvPr/>
        </p:nvSpPr>
        <p:spPr>
          <a:xfrm>
            <a:off x="10735389" y="334779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Prueba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185916" y="3789045"/>
            <a:ext cx="365069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300 registros para validación independiente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80190" y="4672013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La división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estratificada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mantiene la proporción original 70/30 de clientes buenos/malos en ambos conjuntos, garantizando representatividad estadística.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0190" y="5554980"/>
            <a:ext cx="7556421" cy="1939528"/>
          </a:xfrm>
          <a:prstGeom prst="roundRect">
            <a:avLst>
              <a:gd name="adj" fmla="val 4421"/>
            </a:avLst>
          </a:prstGeom>
          <a:solidFill>
            <a:srgbClr val="F2F0D9"/>
          </a:solidFill>
          <a:ln/>
        </p:spPr>
      </p:sp>
      <p:sp>
        <p:nvSpPr>
          <p:cNvPr id="12" name="Shape 9"/>
          <p:cNvSpPr/>
          <p:nvPr/>
        </p:nvSpPr>
        <p:spPr>
          <a:xfrm>
            <a:off x="6270069" y="5554980"/>
            <a:ext cx="7576661" cy="1939528"/>
          </a:xfrm>
          <a:prstGeom prst="roundRect">
            <a:avLst>
              <a:gd name="adj" fmla="val 1579"/>
            </a:avLst>
          </a:prstGeom>
          <a:solidFill>
            <a:srgbClr val="F2F0D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4143" y="5707975"/>
            <a:ext cx="7168515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highlight>
                  <a:srgbClr val="F2F0D9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from sklearn.model_selection import train_test_splitX_train, X_test, y_train, y_test = train_test_split( X, y, test_size=0.3, random_state=42, stratify=y)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381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Modelado - Regresión Logística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68347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¿Por qué Regresión Logística?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038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Interpretabilidad: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Coeficientes claros y explicables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0892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Eficiencia: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Rendimiento sólido en clasificación binaria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1402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Base sólida: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Fundamento para modelos avanzados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31912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Transparencia: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Cumple requisitos regulatorios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2968347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Estrategia de Entrenamiento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3903821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Parámetro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class_weight='balanced'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para abordar desbalance, asignando mayor peso a clase minoritaria ("mal crédito").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922407"/>
            <a:ext cx="3501509" cy="1119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Modelo guardado en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highlight>
                  <a:srgbClr val="F2F0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logistic_regression_model.joblib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para despliegue futuro.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092" y="429816"/>
            <a:ext cx="6366629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Evaluación del Modelo - Métricas Clave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2033111" y="1792605"/>
            <a:ext cx="144208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72%</a:t>
            </a:r>
            <a:endParaRPr lang="en-US" sz="2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877" y="1059894"/>
            <a:ext cx="1758672" cy="1758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21443" y="2965013"/>
            <a:ext cx="1465540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Accuracy General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7092" y="3218378"/>
            <a:ext cx="4414361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Precisión global del modelo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94038" y="1792605"/>
            <a:ext cx="144208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84%</a:t>
            </a:r>
            <a:endParaRPr lang="en-US" sz="2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804" y="1059894"/>
            <a:ext cx="1758672" cy="17586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1276" y="2965013"/>
            <a:ext cx="1827728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Precision Buen Crédito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107900" y="3218378"/>
            <a:ext cx="4414480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Confiabilidad en predicciones positivas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54847" y="1792605"/>
            <a:ext cx="1442085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69%</a:t>
            </a:r>
            <a:endParaRPr lang="en-US" sz="2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613" y="1059894"/>
            <a:ext cx="1758672" cy="17586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33773" y="2965013"/>
            <a:ext cx="1484352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Recall Mal Crédito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9668827" y="3218378"/>
            <a:ext cx="4414361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Capacidad de detectar riesgos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47092" y="3654981"/>
            <a:ext cx="1869638" cy="183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Interpretación Práctica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7092" y="3955256"/>
            <a:ext cx="6625114" cy="375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 los clientes clasificados como "buenos", el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84.62%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son realmente confiables. El modelo identifica el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68.89%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de todos los clientes problemáticos.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814" y="3669625"/>
            <a:ext cx="4968835" cy="4968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4972"/>
            <a:ext cx="904791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Matriz de Confusión e Impacto de Errores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538645"/>
            <a:ext cx="9129951" cy="51126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6829901"/>
            <a:ext cx="13042821" cy="674608"/>
          </a:xfrm>
          <a:prstGeom prst="roundRect">
            <a:avLst>
              <a:gd name="adj" fmla="val 9885"/>
            </a:avLst>
          </a:prstGeom>
          <a:solidFill>
            <a:srgbClr val="CCE5D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7049333"/>
            <a:ext cx="198358" cy="1587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09568" y="7028259"/>
            <a:ext cx="1236833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Crítico: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28 Falsos Positivos representan clientes de alto riesgo aprobados erróneamente. Este es el error más costoso para la institución.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11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Estrategia de Despliegue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48888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715697"/>
            <a:ext cx="33845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Integración Sistémica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20611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Incorporación en el sistema de solicitudes con preprocesamiento automático y predicción en tiempo real.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58734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385548"/>
            <a:ext cx="32650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Soporte a Decisiones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87596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Recomendaciones con puntaje de confianza y características influyentes para oficiales de crédito.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828586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6055400"/>
            <a:ext cx="31151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Monitoreo Continuo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54581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Seguimiento de rendimiento en producción y reentrenamiento periódico con datos actualizados.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3900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Conclusiones y Hoja de Ruta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2305883"/>
            <a:ext cx="3676174" cy="2661166"/>
          </a:xfrm>
          <a:prstGeom prst="roundRect">
            <a:avLst>
              <a:gd name="adj" fmla="val 322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91883" y="251757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22443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7" y="2651522"/>
            <a:ext cx="275511" cy="3444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1883" y="3333988"/>
            <a:ext cx="283630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Logros Conseguidos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91883" y="3775234"/>
            <a:ext cx="325278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Modelo interpretable con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72% de precisión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y capacidad de detectar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69% de casos riesgosos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60437" y="2305883"/>
            <a:ext cx="3676174" cy="2661166"/>
          </a:xfrm>
          <a:prstGeom prst="roundRect">
            <a:avLst>
              <a:gd name="adj" fmla="val 3222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372130" y="2517577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22443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484" y="2651522"/>
            <a:ext cx="275511" cy="344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72130" y="333398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Área de Mejora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0372130" y="3775234"/>
            <a:ext cx="325278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Reducir los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28 Falsos Positivos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mediante optimización de umbrales y algoritmos avanzados.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280190" y="5171123"/>
            <a:ext cx="7556421" cy="2334458"/>
          </a:xfrm>
          <a:prstGeom prst="roundRect">
            <a:avLst>
              <a:gd name="adj" fmla="val 367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91883" y="538281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22443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237" y="5516761"/>
            <a:ext cx="275511" cy="3444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91883" y="619922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Próximos Pasos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491883" y="6640473"/>
            <a:ext cx="713303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Implementar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Random Forest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y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Gradient Boosting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análisis de importancia de características y ingeniería avanzada.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2025-09-26T02:54:11Z</dcterms:created>
  <dcterms:modified xsi:type="dcterms:W3CDTF">2025-09-26T02:54:11Z</dcterms:modified>
</cp:coreProperties>
</file>